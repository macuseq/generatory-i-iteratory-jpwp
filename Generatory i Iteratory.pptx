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0" r:id="rId4"/>
    <p:sldId id="267" r:id="rId5"/>
    <p:sldId id="268" r:id="rId6"/>
    <p:sldId id="276" r:id="rId7"/>
    <p:sldId id="269" r:id="rId8"/>
    <p:sldId id="270" r:id="rId9"/>
    <p:sldId id="271" r:id="rId10"/>
    <p:sldId id="272" r:id="rId11"/>
    <p:sldId id="274" r:id="rId12"/>
    <p:sldId id="275" r:id="rId13"/>
    <p:sldId id="277" r:id="rId14"/>
    <p:sldId id="273" r:id="rId15"/>
    <p:sldId id="279" r:id="rId16"/>
    <p:sldId id="278" r:id="rId17"/>
    <p:sldId id="280" r:id="rId18"/>
    <p:sldId id="257" r:id="rId19"/>
    <p:sldId id="262" r:id="rId2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97A5D-2CE8-0676-56DF-EA9CE18C6EA7}" v="1531" dt="2026-03-28T17:14:22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Styl ciemny 1 — Ak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cCt0dA6q1Q" TargetMode="External"/><Relationship Id="rId2" Type="http://schemas.openxmlformats.org/officeDocument/2006/relationships/hyperlink" Target="https://www.geeksforgeeks.org/python/iterators-in-pyth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pl-PL" sz="6600" b="1">
                <a:solidFill>
                  <a:srgbClr val="FFFFFF"/>
                </a:solidFill>
              </a:rPr>
              <a:t>Generatory i iteratory 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214481" y="5190632"/>
            <a:ext cx="9078628" cy="860620"/>
          </a:xfrm>
        </p:spPr>
        <p:txBody>
          <a:bodyPr anchor="ctr">
            <a:normAutofit lnSpcReduction="10000"/>
          </a:bodyPr>
          <a:lstStyle/>
          <a:p>
            <a:pPr algn="r"/>
            <a:r>
              <a:rPr lang="pl-PL">
                <a:solidFill>
                  <a:srgbClr val="FFFFFF"/>
                </a:solidFill>
              </a:rPr>
              <a:t>Łukasz Skrzypek</a:t>
            </a:r>
            <a:endParaRPr lang="pl-PL"/>
          </a:p>
          <a:p>
            <a:pPr algn="r"/>
            <a:r>
              <a:rPr lang="pl-PL">
                <a:solidFill>
                  <a:srgbClr val="FFFFFF"/>
                </a:solidFill>
              </a:rPr>
              <a:t>Maciej Antosz</a:t>
            </a:r>
            <a:endParaRPr lang="pl-P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81C03-4C24-0D89-FA3E-001381CA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15A6CB-C8E0-0D9F-8CD9-9A84711C8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C3D958-8391-FED6-1F11-1CD8EE65C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DE1F90-4DA6-595A-0183-792109A47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ABB7A8-06C5-1EC4-F9A3-10A0D54BF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C96F08-A618-E193-D778-F6579E1B9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FF1E9EA-F971-45EA-6FF2-D62CB28C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Generatory i iteratory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72BB01-CB7A-EAC3-C95C-FCCBC8F85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l-PL" sz="4800"/>
              <a:t>Dlaczego o tym mówimy? </a:t>
            </a:r>
          </a:p>
          <a:p>
            <a:pPr marL="0" indent="0" algn="ctr">
              <a:buNone/>
            </a:pPr>
            <a:r>
              <a:rPr lang="pl-PL" sz="4800"/>
              <a:t>Gdzie znajdują swoje zastosowanie?</a:t>
            </a:r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119106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16411BE-E518-549D-1D20-0D7B0BEC5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>
                <a:solidFill>
                  <a:srgbClr val="FFFFFF"/>
                </a:solidFill>
              </a:rPr>
              <a:t>Iterator</a:t>
            </a:r>
            <a:br>
              <a:rPr lang="pl-PL" sz="4000" dirty="0">
                <a:solidFill>
                  <a:srgbClr val="FFFFFF"/>
                </a:solidFill>
              </a:rPr>
            </a:br>
            <a:r>
              <a:rPr lang="pl-PL" sz="4000">
                <a:solidFill>
                  <a:srgbClr val="FFFFFF"/>
                </a:solidFill>
              </a:rPr>
              <a:t> a obiekt iterowany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9A46A7-18C6-616A-FA11-020C6C735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pl-PL" sz="2000"/>
              <a:t>Obiekt iterowany (Iterable)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pl-PL" sz="1600"/>
              <a:t>Zbiór elementów po którym można przejść jeden po drugim </a:t>
            </a:r>
            <a:endParaRPr lang="en-US" sz="16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pl-PL" sz="1600"/>
              <a:t>Implementuje metodę __iter__() która zwraca iterator</a:t>
            </a:r>
            <a:endParaRPr lang="en-US" sz="16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pl-PL" sz="1600"/>
              <a:t>Przykłady: </a:t>
            </a:r>
            <a:r>
              <a:rPr lang="pl-PL" sz="1600" b="1"/>
              <a:t>lista</a:t>
            </a:r>
            <a:r>
              <a:rPr lang="pl-PL" sz="1600"/>
              <a:t>, </a:t>
            </a:r>
            <a:r>
              <a:rPr lang="pl-PL" sz="1600" b="1"/>
              <a:t>krotka</a:t>
            </a:r>
            <a:r>
              <a:rPr lang="pl-PL" sz="1600"/>
              <a:t>, </a:t>
            </a:r>
            <a:r>
              <a:rPr lang="pl-PL" sz="1600" b="1"/>
              <a:t>zbiór</a:t>
            </a:r>
            <a:r>
              <a:rPr lang="pl-PL" sz="1600"/>
              <a:t>, </a:t>
            </a:r>
            <a:r>
              <a:rPr lang="pl-PL" sz="1600" b="1"/>
              <a:t>słownik</a:t>
            </a:r>
            <a:r>
              <a:rPr lang="pl-PL" sz="1600"/>
              <a:t> i</a:t>
            </a:r>
            <a:r>
              <a:rPr lang="pl-PL" sz="1600" b="1"/>
              <a:t> łańcuch znaków</a:t>
            </a:r>
            <a:endParaRPr lang="pl-PL"/>
          </a:p>
          <a:p>
            <a:r>
              <a:rPr lang="pl-PL" sz="2000"/>
              <a:t>Iterator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1600"/>
              <a:t>Obiekt zarządzający przechodzenie przez kolekcje</a:t>
            </a:r>
            <a:endParaRPr lang="pl-PL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1600"/>
              <a:t>Pemięta element na którym się zatrzymał</a:t>
            </a:r>
            <a:endParaRPr lang="pl-PL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1600"/>
              <a:t>Implementuje metody __iter__() i __next__()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pl-PL" sz="1600"/>
              <a:t>Przez każdy element przechodzimy tylko raz i tylko w przód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1600"/>
              <a:t>Zwraca wyjątek "StopIteration" gdy elementy się skończą</a:t>
            </a:r>
            <a:endParaRPr lang="pl-PL" sz="1600" dirty="0"/>
          </a:p>
          <a:p>
            <a:pPr lvl="1">
              <a:buFont typeface="Courier New" panose="020B0604020202020204" pitchFamily="34" charset="0"/>
              <a:buChar char="o"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76099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18DCB-0155-1873-EE3B-755C97BD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2CC067-D736-1CB4-DA45-C8CF986CE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AE99B1-1B19-D0EE-2FD9-26A2BD546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EBC6EE-36B7-2ACA-BC9B-240C3D75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8525F2-E050-114F-142C-C0F58A46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7BAE8-8A32-9C36-34D9-737E7158A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12FC149-F62F-C3E9-FB41-BE1B6491C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18EC0B-75A2-AB7C-3FFD-6AF89A250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418BF90-CDCB-E1FB-CFF2-8B82EEC1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 dirty="0">
                <a:solidFill>
                  <a:srgbClr val="FFFFFF"/>
                </a:solidFill>
              </a:rPr>
              <a:t>Iterator </a:t>
            </a:r>
            <a:br>
              <a:rPr lang="pl-PL" sz="4000" dirty="0">
                <a:solidFill>
                  <a:srgbClr val="FFFFFF"/>
                </a:solidFill>
              </a:rPr>
            </a:br>
            <a:r>
              <a:rPr lang="pl-PL" sz="4000">
                <a:solidFill>
                  <a:srgbClr val="FFFFFF"/>
                </a:solidFill>
              </a:rPr>
              <a:t>Przykład</a:t>
            </a:r>
            <a:endParaRPr lang="pl-PL" sz="4000" dirty="0"/>
          </a:p>
        </p:txBody>
      </p:sp>
      <p:pic>
        <p:nvPicPr>
          <p:cNvPr id="5" name="Obraz 4" descr="Obraz zawierający tekst, zrzut ekranu, Czcionka, design&#10;&#10;Zawartość wygenerowana przez AI może być niepoprawna.">
            <a:extLst>
              <a:ext uri="{FF2B5EF4-FFF2-40B4-BE49-F238E27FC236}">
                <a16:creationId xmlns:a16="http://schemas.microsoft.com/office/drawing/2014/main" id="{5735A383-F059-5EF9-6D99-D0359291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602" y="2091152"/>
            <a:ext cx="7211667" cy="267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3E2F6-3C7C-7D0D-B637-21360C23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BE1719-A43B-655A-0313-AED709236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6425ED-1D62-29D9-7CAE-2CA9CC2E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9BE6C-9EBB-0295-4D85-CCB6B192A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4F2FEC-B72F-CD18-7C47-27C5B734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681E67-645F-C492-0EFC-FAF28DE38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C5EB4D5-BF7E-4D04-9AF5-D64319604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952FDD-A131-4C99-5A5A-2CE38B77D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F3ACD8E-FB8C-A2B1-1EFD-CEFA43D7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 baseline="0">
                <a:solidFill>
                  <a:srgbClr val="FFFFFF"/>
                </a:solidFill>
                <a:latin typeface="Aptos Display"/>
              </a:rPr>
              <a:t>Pętla</a:t>
            </a:r>
            <a:r>
              <a:rPr lang="pl-PL" sz="4000">
                <a:latin typeface="Aptos Display"/>
                <a:ea typeface="Aptos Display"/>
                <a:cs typeface="Aptos Display"/>
              </a:rPr>
              <a:t>​</a:t>
            </a:r>
            <a:br>
              <a:rPr lang="pl-PL" sz="4000">
                <a:latin typeface="Aptos Display"/>
                <a:ea typeface="Aptos Display"/>
                <a:cs typeface="Aptos Display"/>
              </a:rPr>
            </a:br>
            <a:r>
              <a:rPr lang="pl-PL" sz="4000" baseline="0">
                <a:solidFill>
                  <a:srgbClr val="FFFFFF"/>
                </a:solidFill>
                <a:latin typeface="Aptos Display"/>
              </a:rPr>
              <a:t>for … in ...</a:t>
            </a:r>
            <a:r>
              <a:rPr lang="pl-PL" sz="4000">
                <a:latin typeface="Aptos Display"/>
                <a:ea typeface="Aptos Display"/>
                <a:cs typeface="Aptos Display"/>
              </a:rPr>
              <a:t>​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Symbol zastępczy zawartości 3" descr="Obraz zawierający tekst, zrzut ekranu, Czcionka, zegar&#10;&#10;Zawartość wygenerowana przez AI może być niepoprawna.">
            <a:extLst>
              <a:ext uri="{FF2B5EF4-FFF2-40B4-BE49-F238E27FC236}">
                <a16:creationId xmlns:a16="http://schemas.microsoft.com/office/drawing/2014/main" id="{D8742990-D910-18A0-5C2F-7BA86DFD8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793" y="853652"/>
            <a:ext cx="4876800" cy="1162050"/>
          </a:xfrm>
          <a:prstGeom prst="rect">
            <a:avLst/>
          </a:prstGeom>
        </p:spPr>
      </p:pic>
      <p:pic>
        <p:nvPicPr>
          <p:cNvPr id="5" name="Obraz 4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983629C9-B096-8FF9-A61E-8A54F6A90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724" y="2688259"/>
            <a:ext cx="656272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4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B933C-1AFA-52FF-30ED-6B1D5CD2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BF11AB-9304-B98D-7962-EE205A3E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BFCF01-F597-5672-B15A-A8FDE540E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503A4B-D7BB-758E-F74D-41560D7D4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FF7775-6F21-88DC-D51C-7D419768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47903B-F727-F3CF-FF82-6A28645E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4399A21-38C3-5C93-81E8-2915C8CC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pl-PL" sz="4000">
                <a:solidFill>
                  <a:srgbClr val="FFFFFF"/>
                </a:solidFill>
              </a:rPr>
              <a:t>__iter__() i __next__()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A3D5B8-A2EE-D0BA-DE5C-7FA802031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16618"/>
            <a:ext cx="3855295" cy="3683358"/>
          </a:xfrm>
        </p:spPr>
        <p:txBody>
          <a:bodyPr anchor="ctr">
            <a:normAutofit/>
          </a:bodyPr>
          <a:lstStyle/>
          <a:p>
            <a:pPr marL="342900" indent="-342900"/>
            <a:r>
              <a:rPr lang="pl-PL"/>
              <a:t>Zwraca samą siebie</a:t>
            </a:r>
          </a:p>
          <a:p>
            <a:pPr marL="342900" indent="-342900"/>
            <a:r>
              <a:rPr lang="pl-PL"/>
              <a:t>Informuje pętle for że obiekt jest iteratorem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9B3D9DB-A563-A841-1241-4DE2B8252A32}"/>
              </a:ext>
            </a:extLst>
          </p:cNvPr>
          <p:cNvSpPr txBox="1"/>
          <p:nvPr/>
        </p:nvSpPr>
        <p:spPr>
          <a:xfrm>
            <a:off x="2152314" y="2165685"/>
            <a:ext cx="23956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600" b="1"/>
              <a:t>__iter__()</a:t>
            </a:r>
          </a:p>
        </p:txBody>
      </p:sp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47EE57E8-AD56-DBFF-36B5-CD0576321E85}"/>
              </a:ext>
            </a:extLst>
          </p:cNvPr>
          <p:cNvSpPr txBox="1">
            <a:spLocks/>
          </p:cNvSpPr>
          <p:nvPr/>
        </p:nvSpPr>
        <p:spPr>
          <a:xfrm>
            <a:off x="6978314" y="2483966"/>
            <a:ext cx="3855295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pl-PL"/>
              <a:t>Oblicza i zwraca następny element</a:t>
            </a:r>
            <a:endParaRPr lang="pl-PL" dirty="0"/>
          </a:p>
          <a:p>
            <a:pPr marL="342900" indent="-342900"/>
            <a:r>
              <a:rPr lang="pl-PL"/>
              <a:t>przy każdym wywołaniu przesuwa się o 1 do przodu</a:t>
            </a:r>
            <a:endParaRPr lang="pl-PL" dirty="0"/>
          </a:p>
          <a:p>
            <a:pPr marL="342900" indent="-342900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26DABB2E-6069-A875-D252-3472DF79DA68}"/>
              </a:ext>
            </a:extLst>
          </p:cNvPr>
          <p:cNvSpPr txBox="1"/>
          <p:nvPr/>
        </p:nvSpPr>
        <p:spPr>
          <a:xfrm>
            <a:off x="7660103" y="2165684"/>
            <a:ext cx="25025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600" b="1"/>
              <a:t>__next__()</a:t>
            </a:r>
          </a:p>
        </p:txBody>
      </p:sp>
    </p:spTree>
    <p:extLst>
      <p:ext uri="{BB962C8B-B14F-4D97-AF65-F5344CB8AC3E}">
        <p14:creationId xmlns:p14="http://schemas.microsoft.com/office/powerpoint/2010/main" val="48592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8C28C-47DC-AE7B-F154-B1B94463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A248D5-7F67-3999-8951-60CE9CDDD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EE0192-4A83-B196-0856-F0DFB6BC6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995A3F-0214-1927-33CE-079776E57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991889-3857-DAF6-FE3C-82B804254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5473E6-3B78-E936-C388-FF88E6A85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9EEBC71-33A3-7DAA-A1C3-2C9951E1D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E4DBA7-C2D8-52F6-1271-4CEBCA98B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8B88D2-7639-B55E-675D-4E01B04D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76" y="1749393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>
                <a:solidFill>
                  <a:srgbClr val="FFFFFF"/>
                </a:solidFill>
              </a:rPr>
              <a:t>Tworzenie własnego iteratora (1)</a:t>
            </a:r>
            <a:br>
              <a:rPr lang="pl-PL" sz="4000" dirty="0">
                <a:solidFill>
                  <a:srgbClr val="FFFFFF"/>
                </a:solidFill>
              </a:rPr>
            </a:br>
            <a:br>
              <a:rPr lang="pl-PL" sz="4000" dirty="0"/>
            </a:br>
            <a:r>
              <a:rPr lang="pl-PL" sz="4000">
                <a:solidFill>
                  <a:srgbClr val="FFFFFF"/>
                </a:solidFill>
              </a:rPr>
              <a:t>(nieskończony iterator</a:t>
            </a:r>
            <a:r>
              <a:rPr lang="pl-PL" sz="4000" dirty="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18A067E5-3DC5-78E5-21F3-EFF26048C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0259" y="892615"/>
            <a:ext cx="6555347" cy="505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6025A-7C1B-EC74-80B6-7302F57B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8FE54E-4B8F-6803-BF17-C13251BE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64C245-59A6-00CF-163C-A8168F3A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05E1DD-4C65-F994-48BF-0A954DBA3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8C974-FFFB-FEC8-42F7-9E32F0027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58E56-02EA-DAC0-5908-18BD8E6A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CF9B18-BAE2-CC22-FC61-6278455B2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83E0B7-0A22-3C8F-2A28-9770C078A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91EF111-8850-3AD6-26DD-9914BA55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 dirty="0">
                <a:solidFill>
                  <a:srgbClr val="FFFFFF"/>
                </a:solidFill>
              </a:rPr>
              <a:t>Tworzenie własnego </a:t>
            </a:r>
            <a:r>
              <a:rPr lang="pl-PL" sz="4000">
                <a:solidFill>
                  <a:srgbClr val="FFFFFF"/>
                </a:solidFill>
              </a:rPr>
              <a:t>iteratora (2)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10A7AEAF-FEF6-B3B3-68DD-B8D1D69ED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0259" y="861121"/>
            <a:ext cx="6555347" cy="512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50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4F399-287A-218B-801A-4F986AA8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9D751F-F8EF-629A-05CC-7D44A987E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457E02-72D7-8EFC-3839-0EC302C15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484C14-6588-BF38-511F-FE95D7A2F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02C55-FBF9-420A-FBED-D176BCEDA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E18787-36FE-FB3B-3D5F-4D37D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52C9E47-008C-89DB-6D30-650A3296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Generatory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7C4A0A-807D-78B0-C8DA-DB428AF8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pl-PL" sz="2000"/>
              <a:t>Generator jest to funkcja która tworzy iterator</a:t>
            </a:r>
            <a:endParaRPr lang="pl-PL"/>
          </a:p>
          <a:p>
            <a:r>
              <a:rPr lang="pl-PL" sz="2000"/>
              <a:t>Słowo return zastąpione </a:t>
            </a:r>
            <a:r>
              <a:rPr lang="pl-PL" sz="2000">
                <a:solidFill>
                  <a:schemeClr val="tx2">
                    <a:lumMod val="76000"/>
                    <a:lumOff val="24000"/>
                  </a:schemeClr>
                </a:solidFill>
              </a:rPr>
              <a:t>yield</a:t>
            </a:r>
            <a:r>
              <a:rPr lang="pl-PL" sz="2000"/>
              <a:t>, które może występować dowolną ilość razy</a:t>
            </a:r>
          </a:p>
          <a:p>
            <a:r>
              <a:rPr lang="pl-PL" sz="2000"/>
              <a:t>Po napotkaniu </a:t>
            </a:r>
            <a:r>
              <a:rPr lang="pl-PL" sz="2000">
                <a:solidFill>
                  <a:schemeClr val="tx2">
                    <a:lumMod val="76000"/>
                    <a:lumOff val="24000"/>
                  </a:schemeClr>
                </a:solidFill>
              </a:rPr>
              <a:t>yield </a:t>
            </a:r>
            <a:r>
              <a:rPr lang="pl-PL" sz="2000"/>
              <a:t>zwraca to co się </a:t>
            </a:r>
            <a:r>
              <a:rPr lang="pl-PL" sz="2000">
                <a:solidFill>
                  <a:srgbClr val="000000"/>
                </a:solidFill>
              </a:rPr>
              <a:t>za nim znajduje i</a:t>
            </a:r>
            <a:r>
              <a:rPr lang="pl-PL" sz="20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 </a:t>
            </a:r>
            <a:r>
              <a:rPr lang="pl-PL" sz="2000">
                <a:solidFill>
                  <a:srgbClr val="000000"/>
                </a:solidFill>
              </a:rPr>
              <a:t>zawiesza</a:t>
            </a:r>
            <a:r>
              <a:rPr lang="pl-PL" sz="2000"/>
              <a:t> działanie aż do kolejnego użycia metody next(), kolejne wywołanie zaczyna się od </a:t>
            </a:r>
            <a:r>
              <a:rPr lang="pl-PL" sz="2000">
                <a:solidFill>
                  <a:schemeClr val="tx2">
                    <a:lumMod val="76000"/>
                    <a:lumOff val="24000"/>
                  </a:schemeClr>
                </a:solidFill>
              </a:rPr>
              <a:t>yield </a:t>
            </a:r>
            <a:r>
              <a:rPr lang="pl-PL" sz="2000"/>
              <a:t>które zakończyło poprzednią iteracje aż do napotkania kolejnego </a:t>
            </a:r>
            <a:r>
              <a:rPr lang="pl-PL" sz="2000" dirty="0">
                <a:solidFill>
                  <a:schemeClr val="tx2">
                    <a:lumMod val="76000"/>
                    <a:lumOff val="24000"/>
                  </a:schemeClr>
                </a:solidFill>
              </a:rPr>
              <a:t>yield</a:t>
            </a:r>
          </a:p>
          <a:p>
            <a:r>
              <a:rPr lang="pl-PL" sz="2000"/>
              <a:t>Iterator kończy się gdy napotka return lub gdy dotrze do końca ciała generatora</a:t>
            </a:r>
            <a:endParaRPr lang="pl-PL" sz="2000" dirty="0"/>
          </a:p>
          <a:p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403054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901CD-C5D2-9A6D-7348-97BE4706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C5D095-FF05-8C2A-4B66-E6E653488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3396D2-73A1-F5A6-7FFD-2011BEDC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C9F932-DE62-D72C-DAD2-DDE9E68D9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A3C31D-CC70-7479-9AC0-CA99C16EA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7B549E-D5B0-2444-7E98-714CD9F09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E2B7D3E-6296-752C-C2AE-6368F81DD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70234-8D45-7EC4-4375-CDF0EFBFE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25C6FA3-A47D-CCF0-8BF1-3BBBF5B0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17" y="987908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 dirty="0">
                <a:solidFill>
                  <a:srgbClr val="FFFFFF"/>
                </a:solidFill>
              </a:rPr>
              <a:t>Prosty </a:t>
            </a:r>
            <a:r>
              <a:rPr lang="pl-PL" sz="4000">
                <a:solidFill>
                  <a:srgbClr val="FFFFFF"/>
                </a:solidFill>
              </a:rPr>
              <a:t>generator</a:t>
            </a:r>
            <a:br>
              <a:rPr lang="pl-PL" sz="4000" dirty="0">
                <a:solidFill>
                  <a:srgbClr val="FFFFFF"/>
                </a:solidFill>
              </a:rPr>
            </a:br>
            <a:endParaRPr lang="pl-PL" sz="4000" dirty="0"/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2C9F96E-D8F2-70C3-98C0-9865734B2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4336" y="2126981"/>
            <a:ext cx="7747193" cy="260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3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3E3E3-9CFF-3B30-47B4-677F5D32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114AEB-D9BF-1975-E92F-4E15FCDCE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D5053E-7C17-BC92-132B-C7F6C0540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2B8EE4-345B-4A6E-A5D0-146D068D6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3A5444-CC9D-ADD9-0AA2-EF342142A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C655A-1449-E965-7386-CA73F79B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74B921D-B7AC-E387-24B5-CCF0BCE3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Generator vs iterator  (To samo ale krócej)</a:t>
            </a:r>
          </a:p>
        </p:txBody>
      </p:sp>
      <p:pic>
        <p:nvPicPr>
          <p:cNvPr id="11" name="Symbol zastępczy zawartości 10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27D42CE-7368-8CDB-D53C-851FA7743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1893" y="2427204"/>
            <a:ext cx="4271724" cy="3089666"/>
          </a:xfrm>
          <a:prstGeom prst="rect">
            <a:avLst/>
          </a:prstGeom>
        </p:spPr>
      </p:pic>
      <p:pic>
        <p:nvPicPr>
          <p:cNvPr id="13" name="Obraz 12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BC9974DD-6FF8-4E1D-ABE5-CC4FF75B2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2" y="2422534"/>
            <a:ext cx="4328434" cy="3997378"/>
          </a:xfrm>
          <a:prstGeom prst="rect">
            <a:avLst/>
          </a:prstGeom>
        </p:spPr>
      </p:pic>
      <p:sp>
        <p:nvSpPr>
          <p:cNvPr id="15" name="pole tekstowe 14">
            <a:extLst>
              <a:ext uri="{FF2B5EF4-FFF2-40B4-BE49-F238E27FC236}">
                <a16:creationId xmlns:a16="http://schemas.microsoft.com/office/drawing/2014/main" id="{3FA0426D-0EEA-2CD8-A515-E813A7531AF5}"/>
              </a:ext>
            </a:extLst>
          </p:cNvPr>
          <p:cNvSpPr txBox="1"/>
          <p:nvPr/>
        </p:nvSpPr>
        <p:spPr>
          <a:xfrm>
            <a:off x="2125578" y="1711157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200" b="1"/>
              <a:t>Iterator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227311C-8C00-79F5-58B1-3DE8689F6A70}"/>
              </a:ext>
            </a:extLst>
          </p:cNvPr>
          <p:cNvSpPr txBox="1"/>
          <p:nvPr/>
        </p:nvSpPr>
        <p:spPr>
          <a:xfrm>
            <a:off x="8114631" y="1711158"/>
            <a:ext cx="27432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b="1"/>
              <a:t>Generator</a:t>
            </a:r>
          </a:p>
          <a:p>
            <a:pPr algn="l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08826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82BF5-E0D7-66DC-5216-7CAC20D5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B96748-5F75-63B7-B3FB-115BFF3CA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35C051-E12E-F1B7-C01B-720E06A9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F3A8A7-ED86-B2D2-4EE3-05B1A3553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3E3CB9-4C17-4472-4DE7-7F55A90E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2EBC81-8B10-73EE-E78A-01110EA9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844DCBF-8A36-3CF3-5084-D2744FA6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Generator vs iterator (2)  (To samo ale krócej)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E0B9A64-A626-834A-8557-5022172C75CA}"/>
              </a:ext>
            </a:extLst>
          </p:cNvPr>
          <p:cNvSpPr txBox="1"/>
          <p:nvPr/>
        </p:nvSpPr>
        <p:spPr>
          <a:xfrm>
            <a:off x="2125578" y="1711157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3200" b="1"/>
              <a:t>Iterator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9D4B7404-89BB-5485-CDF6-0EBC889AB729}"/>
              </a:ext>
            </a:extLst>
          </p:cNvPr>
          <p:cNvSpPr txBox="1"/>
          <p:nvPr/>
        </p:nvSpPr>
        <p:spPr>
          <a:xfrm>
            <a:off x="8114631" y="1711158"/>
            <a:ext cx="224856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b="1"/>
              <a:t>Generator</a:t>
            </a:r>
          </a:p>
          <a:p>
            <a:pPr algn="l"/>
            <a:endParaRPr lang="pl-PL" dirty="0"/>
          </a:p>
        </p:txBody>
      </p:sp>
      <p:pic>
        <p:nvPicPr>
          <p:cNvPr id="9" name="Symbol zastępczy zawartości 8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ABF7023F-1395-8B35-2FA5-36025F3DA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2323" y="2420227"/>
            <a:ext cx="4536407" cy="3108660"/>
          </a:xfrm>
          <a:prstGeom prst="rect">
            <a:avLst/>
          </a:prstGeom>
        </p:spPr>
      </p:pic>
      <p:pic>
        <p:nvPicPr>
          <p:cNvPr id="19" name="Symbol zastępczy zawartości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7AB7098C-F414-BEA0-8C34-403F212F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54" y="2416615"/>
            <a:ext cx="4870926" cy="37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7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E0221-65E0-C428-5CC8-8EB94F73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D0FE3E-FEE5-82B0-A9EE-BAF49AB01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647DEA-0CE8-9F3F-AAA9-792587FA2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E6C4C-FF59-F006-7C88-A26F44CAD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52DD70-58F3-03A2-9F8D-8EA353958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BE3486-BDFE-BF4A-D796-DD5B8927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84F343F-75AE-21C8-91BD-A3FFD2B7A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DDED00-B731-FA09-CA47-19EC27A37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DCA3C3E-3ACB-E6E5-C091-518D5C80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>
                <a:solidFill>
                  <a:srgbClr val="FFFFFF"/>
                </a:solidFill>
              </a:rPr>
              <a:t>yield from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E40B021-3326-AAD5-908B-E64653E6F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154" y="2276566"/>
            <a:ext cx="6555347" cy="277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35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6D738-91C5-43DF-DE0C-3EA34026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4B45B3-B966-6E0A-97AD-DF1C409F3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2AC8AD-319D-FC7B-8208-0A32529F1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5EE24-ED33-27B0-3150-5B880D82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6C5D33-A867-F17B-E908-626F64FC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82F8AA-31DC-7550-216E-929EA53BA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D161CF9-70EE-EAD0-29E7-85BEEA9A8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C2BEDD-689E-790D-1C99-C0230E39A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A8A982D-A8F6-02EE-C854-D5755B4F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564" y="1749908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pl-PL" sz="4000">
                <a:solidFill>
                  <a:srgbClr val="FFFFFF"/>
                </a:solidFill>
              </a:rPr>
              <a:t>yield from</a:t>
            </a:r>
            <a:br>
              <a:rPr lang="pl-PL" sz="4000" dirty="0">
                <a:solidFill>
                  <a:srgbClr val="FFFFFF"/>
                </a:solidFill>
              </a:rPr>
            </a:br>
            <a:br>
              <a:rPr lang="pl-PL" sz="4000" dirty="0"/>
            </a:br>
            <a:r>
              <a:rPr lang="pl-PL" sz="4000">
                <a:solidFill>
                  <a:srgbClr val="FFFFFF"/>
                </a:solidFill>
              </a:rPr>
              <a:t>do łączenia działania różnych generatorów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75861EE-DF3F-79D9-6CAF-2473B974D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6388" y="301901"/>
            <a:ext cx="5408880" cy="4717206"/>
          </a:xfrm>
          <a:prstGeom prst="rect">
            <a:avLst/>
          </a:prstGeom>
        </p:spPr>
      </p:pic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904FA30A-BD48-BF13-BCD8-52A6FD4A3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68" y="5254458"/>
            <a:ext cx="55530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08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8BF82-EE9E-C846-2FD2-625347FF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F974EE-B6FF-E7E3-5693-39DD7EE7D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19943B-E2BF-31BC-B2F2-81621AEB5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94161-E960-4900-BD55-F6899E586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43DAD8-65A2-AB64-9D35-FCC120138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3DAC7B-696A-4C8B-C1F0-C8E3CA3B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2D12915-FAEA-96CE-5BD3-CDBD16A7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0EA7AC-67BD-297B-DD9C-F6041528C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4A617BB-FD58-CCA6-C79F-4926D93F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96" y="693803"/>
            <a:ext cx="3201366" cy="4724339"/>
          </a:xfrm>
        </p:spPr>
        <p:txBody>
          <a:bodyPr anchor="b">
            <a:normAutofit/>
          </a:bodyPr>
          <a:lstStyle/>
          <a:p>
            <a:pPr algn="ctr"/>
            <a:r>
              <a:rPr lang="pl-PL" sz="4000" dirty="0">
                <a:solidFill>
                  <a:srgbClr val="FFFFFF"/>
                </a:solidFill>
              </a:rPr>
              <a:t>Generator </a:t>
            </a:r>
            <a:r>
              <a:rPr lang="pl-PL" sz="4000">
                <a:solidFill>
                  <a:srgbClr val="FFFFFF"/>
                </a:solidFill>
              </a:rPr>
              <a:t>Expressions</a:t>
            </a:r>
            <a:br>
              <a:rPr lang="pl-PL" sz="4000" dirty="0">
                <a:solidFill>
                  <a:srgbClr val="FFFFFF"/>
                </a:solidFill>
              </a:rPr>
            </a:br>
            <a:br>
              <a:rPr lang="pl-PL" sz="4000" dirty="0"/>
            </a:br>
            <a:br>
              <a:rPr lang="pl-PL" sz="4000" dirty="0"/>
            </a:br>
            <a:r>
              <a:rPr lang="pl-PL" sz="4000">
                <a:solidFill>
                  <a:srgbClr val="FFFFFF"/>
                </a:solidFill>
              </a:rPr>
              <a:t>skrócony zapis prostych generatorów</a:t>
            </a:r>
          </a:p>
        </p:txBody>
      </p:sp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91E75380-C565-9FE6-F530-141585EC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965" y="1965911"/>
            <a:ext cx="7784599" cy="289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30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06897-49B8-2865-BC8E-65CE4B4C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E33E31-E116-5A74-6D14-1C32A6B30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AE6F4A-C8F2-3A59-BC83-FE96875D0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EC0C4-60D4-36F4-E9D5-73F28E891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C554A6-3370-C7BE-E0E0-FA17F3C6C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EACD24-D5C6-5AB3-682A-C2DDDD083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EBD2A27-8F78-300C-17A8-88267241D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itertools - przykładowe iteratory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Symbol zastępczy zawartości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915CF987-181A-71E9-94C9-84B7B7E7B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846" y="2561507"/>
            <a:ext cx="4707304" cy="1741122"/>
          </a:xfrm>
          <a:prstGeom prst="rect">
            <a:avLst/>
          </a:prstGeom>
        </p:spPr>
      </p:pic>
      <p:pic>
        <p:nvPicPr>
          <p:cNvPr id="6" name="Obraz 5" descr="Obraz zawierający zrzut ekranu, czarne, tekst&#10;&#10;Zawartość wygenerowana przez AI może być niepoprawna.">
            <a:extLst>
              <a:ext uri="{FF2B5EF4-FFF2-40B4-BE49-F238E27FC236}">
                <a16:creationId xmlns:a16="http://schemas.microsoft.com/office/drawing/2014/main" id="{FC591F80-FE87-B84B-F252-18CF749C4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32" y="4614985"/>
            <a:ext cx="4724644" cy="1584569"/>
          </a:xfrm>
          <a:prstGeom prst="rect">
            <a:avLst/>
          </a:prstGeom>
        </p:spPr>
      </p:pic>
      <p:pic>
        <p:nvPicPr>
          <p:cNvPr id="7" name="Obraz 6" descr="Obraz zawierający tekst, Czcionka, zrzut ekranu, numer&#10;&#10;Zawartość wygenerowana przez AI może być niepoprawna.">
            <a:extLst>
              <a:ext uri="{FF2B5EF4-FFF2-40B4-BE49-F238E27FC236}">
                <a16:creationId xmlns:a16="http://schemas.microsoft.com/office/drawing/2014/main" id="{74951820-AFB2-C1BF-7760-D7052F828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665" y="2558073"/>
            <a:ext cx="6057900" cy="1409700"/>
          </a:xfrm>
          <a:prstGeom prst="rect">
            <a:avLst/>
          </a:prstGeom>
        </p:spPr>
      </p:pic>
      <p:pic>
        <p:nvPicPr>
          <p:cNvPr id="9" name="Obraz 8" descr="Obraz zawierający zrzut ekranu, czarne&#10;&#10;Zawartość wygenerowana przez AI może być niepoprawna.">
            <a:extLst>
              <a:ext uri="{FF2B5EF4-FFF2-40B4-BE49-F238E27FC236}">
                <a16:creationId xmlns:a16="http://schemas.microsoft.com/office/drawing/2014/main" id="{CE4C7233-37AE-3AAD-C189-5771FF085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910" y="4297607"/>
            <a:ext cx="4963257" cy="1750401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CAB047E-AB01-4E97-ADC7-30C427EABB31}"/>
              </a:ext>
            </a:extLst>
          </p:cNvPr>
          <p:cNvSpPr txBox="1"/>
          <p:nvPr/>
        </p:nvSpPr>
        <p:spPr>
          <a:xfrm>
            <a:off x="1437105" y="1872607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2800" b="1"/>
              <a:t>accumulate()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C56F805-A79C-8106-7FEF-97F906D3C944}"/>
              </a:ext>
            </a:extLst>
          </p:cNvPr>
          <p:cNvSpPr txBox="1"/>
          <p:nvPr/>
        </p:nvSpPr>
        <p:spPr>
          <a:xfrm>
            <a:off x="8119259" y="1872607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2800" b="1"/>
              <a:t>cycle()</a:t>
            </a:r>
          </a:p>
        </p:txBody>
      </p:sp>
    </p:spTree>
    <p:extLst>
      <p:ext uri="{BB962C8B-B14F-4D97-AF65-F5344CB8AC3E}">
        <p14:creationId xmlns:p14="http://schemas.microsoft.com/office/powerpoint/2010/main" val="4055154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FD213-C3EF-F5EC-D6AE-2F382863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A96140-B88D-69C0-DFE5-CAA6CA070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F431B-B3AD-A08C-7409-7725E479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ED139-0969-52E1-8A28-586D1048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1A402-C53D-6880-D35E-924B9E0F5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228380-0D8F-9E75-0781-A580B66A0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590396-77B8-1B48-A6EA-BAB74CED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itertools - przykładowe iteratory</a:t>
            </a:r>
            <a:endParaRPr lang="pl-PL" sz="4000" dirty="0">
              <a:solidFill>
                <a:srgbClr val="FFFFFF"/>
              </a:solidFill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DD959B4-1C4F-909B-FB73-8E581709DE28}"/>
              </a:ext>
            </a:extLst>
          </p:cNvPr>
          <p:cNvSpPr txBox="1"/>
          <p:nvPr/>
        </p:nvSpPr>
        <p:spPr>
          <a:xfrm>
            <a:off x="2011947" y="1872607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2800" b="1"/>
              <a:t>repeat()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F106FC8-8A88-AF7A-F44D-615F4DC03397}"/>
              </a:ext>
            </a:extLst>
          </p:cNvPr>
          <p:cNvSpPr txBox="1"/>
          <p:nvPr/>
        </p:nvSpPr>
        <p:spPr>
          <a:xfrm>
            <a:off x="7397364" y="1872607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l-PL" sz="2800" b="1"/>
              <a:t>permutations()</a:t>
            </a:r>
          </a:p>
        </p:txBody>
      </p:sp>
      <p:pic>
        <p:nvPicPr>
          <p:cNvPr id="3" name="Obraz 2" descr="Obraz zawierający zrzut ekranu, czarne&#10;&#10;Zawartość wygenerowana przez AI może być niepoprawna.">
            <a:extLst>
              <a:ext uri="{FF2B5EF4-FFF2-40B4-BE49-F238E27FC236}">
                <a16:creationId xmlns:a16="http://schemas.microsoft.com/office/drawing/2014/main" id="{D4D902B3-AC17-9901-4E73-472BED9C4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5" y="4131595"/>
            <a:ext cx="4666248" cy="787233"/>
          </a:xfrm>
          <a:prstGeom prst="rect">
            <a:avLst/>
          </a:prstGeom>
        </p:spPr>
      </p:pic>
      <p:pic>
        <p:nvPicPr>
          <p:cNvPr id="15" name="Obraz 14" descr="Obraz zawierający zrzut ekranu, Czcionka, typografia, tekst&#10;&#10;Zawartość wygenerowana przez AI może być niepoprawna.">
            <a:extLst>
              <a:ext uri="{FF2B5EF4-FFF2-40B4-BE49-F238E27FC236}">
                <a16:creationId xmlns:a16="http://schemas.microsoft.com/office/drawing/2014/main" id="{0BE8E6C1-BEA0-CDB1-B97F-6DBA253CC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42" y="4374231"/>
            <a:ext cx="5737893" cy="783222"/>
          </a:xfrm>
          <a:prstGeom prst="rect">
            <a:avLst/>
          </a:prstGeom>
        </p:spPr>
      </p:pic>
      <p:pic>
        <p:nvPicPr>
          <p:cNvPr id="19" name="Symbol zastępczy zawartości 18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EDF16F3F-1783-0519-3ECD-16C0461A6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60208" y="3014286"/>
            <a:ext cx="4828005" cy="824331"/>
          </a:xfrm>
          <a:prstGeom prst="rect">
            <a:avLst/>
          </a:prstGeom>
        </p:spPr>
      </p:pic>
      <p:pic>
        <p:nvPicPr>
          <p:cNvPr id="20" name="Obraz 19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F5A5767E-22A1-AF86-B2C9-956888801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14" y="2906045"/>
            <a:ext cx="59245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49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D7565AD-F058-C603-AE2A-BF51ED2D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pl-PL" sz="4000">
                <a:solidFill>
                  <a:srgbClr val="FFFFFF"/>
                </a:solidFill>
              </a:rPr>
              <a:t>Czy warto?</a:t>
            </a:r>
            <a:endParaRPr lang="pl-PL"/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C2896B5-1827-7F16-D739-CD9A5CADB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109" y="1861176"/>
            <a:ext cx="9448800" cy="358140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B8CC2B8-4662-F08A-BE8A-BE4CD4A28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09" y="5635290"/>
            <a:ext cx="8689139" cy="72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36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CD710-E97C-77F6-B1FD-412E0360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362AFE-FBFA-4540-D25D-827D19075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9C52AC-BA57-79AA-CBDF-8C153CC1A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10B602-E619-5A39-B1D4-7B1CD2DA2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78A61F-C434-8107-74FD-05469325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3484D1-41BC-7AC9-286E-EEB745A42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019646-DD9D-2C4F-A07A-4F2FDB72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099CE8-0406-C87F-56DC-04DE4D25A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pl-PL" sz="2000" dirty="0">
                <a:ea typeface="+mn-lt"/>
                <a:cs typeface="+mn-lt"/>
                <a:hlinkClick r:id="rId2"/>
              </a:rPr>
              <a:t>https://www.geeksforgeeks.org/python/iterators-in-python/</a:t>
            </a:r>
            <a:endParaRPr lang="pl-PL" sz="2000">
              <a:ea typeface="+mn-lt"/>
              <a:cs typeface="+mn-lt"/>
            </a:endParaRPr>
          </a:p>
          <a:p>
            <a:r>
              <a:rPr lang="pl-PL" sz="2000" dirty="0">
                <a:ea typeface="+mn-lt"/>
                <a:cs typeface="+mn-lt"/>
              </a:rPr>
              <a:t>https://docs.python.org/3.14/tutorial/classes.html#iterators</a:t>
            </a:r>
            <a:endParaRPr lang="pl-PL" sz="2000" dirty="0"/>
          </a:p>
          <a:p>
            <a:r>
              <a:rPr lang="pl-PL" sz="2000"/>
              <a:t>Real Python: Working With Python's Iterators, Iterables, and Iteration </a:t>
            </a:r>
            <a:r>
              <a:rPr lang="pl-PL" sz="2000" dirty="0">
                <a:hlinkClick r:id="rId3"/>
              </a:rPr>
              <a:t>https</a:t>
            </a:r>
            <a:r>
              <a:rPr lang="pl-PL" sz="2000" dirty="0">
                <a:ea typeface="+mn-lt"/>
                <a:cs typeface="+mn-lt"/>
                <a:hlinkClick r:id="rId3"/>
              </a:rPr>
              <a:t>://www.youtube.com/watch?v=DcCt0dA6q1Q</a:t>
            </a:r>
            <a:endParaRPr lang="en-US" sz="2000">
              <a:ea typeface="+mn-lt"/>
              <a:cs typeface="+mn-lt"/>
            </a:endParaRPr>
          </a:p>
          <a:p>
            <a:r>
              <a:rPr lang="en-US" sz="2000" dirty="0"/>
              <a:t>https://docs.python.org/3/library/itertools.html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590150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19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0" baseType="lpstr">
      <vt:lpstr>Motyw pakietu Office</vt:lpstr>
      <vt:lpstr>Generatory i iteratory </vt:lpstr>
      <vt:lpstr>Generatory i iteratory</vt:lpstr>
      <vt:lpstr>Iterator  a obiekt iterowany</vt:lpstr>
      <vt:lpstr>Iterator  Przykład</vt:lpstr>
      <vt:lpstr>Pętla​ for … in ...​</vt:lpstr>
      <vt:lpstr>__iter__() i __next__()</vt:lpstr>
      <vt:lpstr>Tworzenie własnego iteratora (1)  (nieskończony iterator)</vt:lpstr>
      <vt:lpstr>Tworzenie własnego iteratora (2)</vt:lpstr>
      <vt:lpstr>Generatory</vt:lpstr>
      <vt:lpstr>Prosty generator </vt:lpstr>
      <vt:lpstr>Generator vs iterator  (To samo ale krócej)</vt:lpstr>
      <vt:lpstr>Generator vs iterator (2)  (To samo ale krócej)</vt:lpstr>
      <vt:lpstr>yield from</vt:lpstr>
      <vt:lpstr>yield from  do łączenia działania różnych generatorów</vt:lpstr>
      <vt:lpstr>Generator Expressions   skrócony zapis prostych generatorów</vt:lpstr>
      <vt:lpstr>itertools - przykładowe iteratory</vt:lpstr>
      <vt:lpstr>itertools - przykładowe iteratory</vt:lpstr>
      <vt:lpstr>Czy warto?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456</cp:revision>
  <dcterms:created xsi:type="dcterms:W3CDTF">2026-03-28T11:03:30Z</dcterms:created>
  <dcterms:modified xsi:type="dcterms:W3CDTF">2026-03-28T17:17:02Z</dcterms:modified>
</cp:coreProperties>
</file>